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3"/>
  </p:handoutMasterIdLst>
  <p:sldIdLst>
    <p:sldId id="259" r:id="rId2"/>
  </p:sldIdLst>
  <p:sldSz cx="43891200" cy="32918400"/>
  <p:notesSz cx="6953250" cy="9239250"/>
  <p:embeddedFontLst>
    <p:embeddedFont>
      <p:font typeface="Helvetica" panose="020B0604020202020204" pitchFamily="34" charset="0"/>
      <p:regular r:id="rId4"/>
      <p:bold r:id="rId5"/>
      <p:italic r:id="rId6"/>
      <p:boldItalic r:id="rId7"/>
    </p:embeddedFont>
    <p:embeddedFont>
      <p:font typeface="Nunito" pitchFamily="2" charset="0"/>
      <p:regular r:id="rId8"/>
      <p:bold r:id="rId9"/>
      <p:italic r:id="rId10"/>
      <p:boldItalic r:id="rId11"/>
    </p:embeddedFon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Delre" initials="JD" lastIdx="0" clrIdx="0">
    <p:extLst>
      <p:ext uri="{19B8F6BF-5375-455C-9EA6-DF929625EA0E}">
        <p15:presenceInfo xmlns:p15="http://schemas.microsoft.com/office/powerpoint/2012/main" userId="Justin Delr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3946"/>
    <a:srgbClr val="222222"/>
    <a:srgbClr val="457B9D"/>
    <a:srgbClr val="1D3557"/>
    <a:srgbClr val="F1F1F7"/>
    <a:srgbClr val="F1FAEE"/>
    <a:srgbClr val="EFF9F9"/>
    <a:srgbClr val="A8DADC"/>
    <a:srgbClr val="008B8B"/>
    <a:srgbClr val="A6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658" autoAdjust="0"/>
    <p:restoredTop sz="94575" autoAdjust="0"/>
  </p:normalViewPr>
  <p:slideViewPr>
    <p:cSldViewPr>
      <p:cViewPr>
        <p:scale>
          <a:sx n="25" d="100"/>
          <a:sy n="25" d="100"/>
        </p:scale>
        <p:origin x="1890" y="-546"/>
      </p:cViewPr>
      <p:guideLst>
        <p:guide orient="horz" pos="10368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presProps" Target="presProps.xml"/><Relationship Id="rId3" Type="http://schemas.openxmlformats.org/officeDocument/2006/relationships/handoutMaster" Target="handoutMasters/handoutMaster1.xml"/><Relationship Id="rId21" Type="http://schemas.openxmlformats.org/officeDocument/2006/relationships/tableStyles" Target="tableStyle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8588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8588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4F1B5D8-D97D-47DE-99FD-BED51FB7C9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78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4:27:57.753"/>
    </inkml:context>
    <inkml:brush xml:id="br0">
      <inkml:brushProperty name="width" value="0.05" units="cm"/>
      <inkml:brushProperty name="height" value="0.05" units="cm"/>
      <inkml:brushProperty name="color" value="#F1F1F7"/>
    </inkml:brush>
  </inkml:definitions>
  <inkml:trace contextRef="#ctx0" brushRef="#br0">696 192 24575,'7'-1'0,"-1"-1"0,1 1 0,-1-1 0,1 0 0,-1-1 0,1 1 0,-1-1 0,0-1 0,0 1 0,7-6 0,-4 3 0,-1 0 0,2 1 0,17-7 0,46-13 0,-45 14 0,0 2 0,0 1 0,36-6 0,-139 18 0,-86-5 0,44-1 0,-243 2 0,483 2 0,137-5 0,-197-7 0,-44 6 0,1 1 0,26-1 0,-32 4 0,-11 1 0,1-1 0,-1 1 0,1-1 0,0 0 0,-1-1 0,1 1 0,-1 0 0,1-1 0,-1 0 0,1 0 0,-1 0 0,1 0 0,4-3 0,-8 3 0,0 1 0,-1-1 0,1 1 0,0-1 0,0 1 0,-1-1 0,1 1 0,0 0 0,-1-1 0,1 1 0,0-1 0,-1 1 0,1 0 0,-1-1 0,1 1 0,0 0 0,-1-1 0,1 1 0,-1 0 0,1 0 0,-1-1 0,1 1 0,-1 0 0,1 0 0,-1 0 0,1 0 0,-1 0 0,0 0 0,1 0 0,-1 0 0,1 0 0,-1 0 0,1 0 0,-2 0 0,-23-3 0,-208 1 0,120 3 0,98 0 0,-1 1 0,1 0 0,-17 6 0,-9 0 0,79-11 0,74 5 0,-35 0 0,-46-2 0,-3 1 0,1-2 0,0 0 0,53-11 0,-63 8 0,1 1 0,0 1 0,30 1 0,-403 2 0,394-1 0,-9 1 0,0-1 0,0-2 0,54-9 0,-68 7 0,1 2 0,32-2 0,-79 5 0,-6-1 0,0 1 0,-62 11 0,30 4 0,-70 15 0,82-29 0,43-2 0,1 0 0,-1 1 0,0 0 0,-15 3 0,26-4 0,-1 0 0,1 0 0,0 0 0,0 0 0,0 0 0,-1 0 0,1 0 0,0 0 0,0 0 0,0 0 0,-1 0 0,1 0 0,0 0 0,0 0 0,0 0 0,-1 0 0,1 0 0,0 0 0,0 0 0,0 0 0,0 0 0,-1 0 0,1 0 0,0 0 0,0 0 0,0 0 0,-1 0 0,1 1 0,0-1 0,0 0 0,0 0 0,0 0 0,0 0 0,0 0 0,-1 1 0,1-1 0,0 0 0,0 0 0,0 0 0,0 1 0,0-1 0,0 0 0,0 0 0,0 0 0,0 1 0,0-1 0,0 0 0,0 0 0,0 0 0,0 1 0,0-1 0,0 0 0,0 0 0,0 0 0,0 0 0,0 1 0,0-1 0,0 0 0,0 0 0,0 0 0,1 1 0,16 4 0,25 1 0,480-5 0,-253-3 0,-266 2 0,1 0 0,-1 1 0,0-1 0,1 1 0,-1 0 0,0 0 0,1 0 0,-1 0 0,0 1 0,5 2 0,-8-4 0,0 0 0,1 0 0,-1 1 0,0-1 0,1 0 0,-1 0 0,0 1 0,0-1 0,1 0 0,-1 1 0,0-1 0,0 0 0,1 1 0,-1-1 0,0 0 0,0 1 0,0-1 0,0 0 0,0 1 0,1-1 0,-1 0 0,0 1 0,0-1 0,0 1 0,0-1 0,0 0 0,0 1 0,0-1 0,0 1 0,0-1 0,-1 0 0,1 1 0,0-1 0,-21 13 0,-7-6 0,-1-1 0,-34 2 0,-35 7 0,33-2 0,-1-2 0,-95 2 0,-136-14 0,125-1 0,899 2 0,-804 0 0,-108 16 0,-25 12 0,145-19 0,38-5 0,-51 3 0,-20-8 0,282-15 0,-78 9 0,-73 6 0,61-9 0,39-5 0,-33 5 0,-61 7 0,-26 1 0,-39 2 0,-743 1 0,731-8 0,37 7 0,1 0 0,0 0 0,0-1 0,-1 1 0,1 0 0,0 0 0,0 0 0,-1 0 0,1 0 0,0-1 0,0 1 0,0 0 0,-1 0 0,1 0 0,0-1 0,0 1 0,0 0 0,0 0 0,-1-1 0,1 1 0,0 0 0,0 0 0,0-1 0,0 1 0,0 0 0,0 0 0,0-1 0,0 1 0,0 0 0,0-1 0,0 1 0,0 0 0,0 0 0,0-1 0,0 1 0,0 0 0,0-1 0,19-11 0,-4 7 0,1 1 0,0 0 0,0 2 0,20-2 0,27-5 0,-27 3 0,1 3 0,0 1 0,69 5 0,-55-1 0,54-4 0,43-20 0,-114 12 0,-28 4 0,-23 2 0,-354 1 0,187 6 0,103-4 0,-90 3 0,163-1 0,0 0 0,0 0 0,0 1 0,0 1 0,-12 4 0,66-9 0,2-9 0,0 3 0,1 1 0,58 1 0,-26 1 0,52-15 0,-89 11 0,55-3 0,-7 2 0,-57 5 0,49-2 0,-55 7 0,72 1 0,-69 2 0,-32-3 0,0 0 0,0 0 0,0 0 0,-1 0 0,1 0 0,0 0 0,0 1 0,0-1 0,0 0 0,0 0 0,0 0 0,0 0 0,0 0 0,-1 0 0,1 0 0,0 1 0,0-1 0,0 0 0,0 0 0,0 0 0,0 0 0,0 0 0,0 1 0,0-1 0,0 0 0,0 0 0,0 0 0,0 0 0,0 1 0,0-1 0,0 0 0,0 0 0,0 0 0,0 0 0,0 0 0,0 1 0,0-1 0,0 0 0,1 0 0,-1 0 0,0 0 0,0 0 0,0 1 0,-63 17 0,-101 15 0,117-28 0,-49-2 0,50-2 0,-52 7 0,-124 17 0,9-21 0,192-4 0,684 0 0,-627-2 0,42-7 0,34-2 0,105 13 0,-320 17 0,72-11 0,1-2 0,-59 4 0,-138 13 0,77-5 0,71-8 0,36-5 0,-55 1 0,30-6 0,35 0 0,25 0 0,10 0 0,700 0 0,-681-1 0,0-1 0,24-6 0,29-2 0,14-1 0,-59 6 0,52-2 0,-52 8 0,-22-1 0,-20 0 0,-32 3 0,-86 16 0,89-11 0,-2-2 0,-56 2 0,18-5 0,-103 18 0,27-2 0,86-10 0,42-4 0,-49 1 0,813-7 0,-703-1 0,-1-1 0,0-2 0,0 0 0,52-19 0,-153 20 0,42 6 0,0 1 0,-54 14 0,53-10 0,1-1 0,-53 3 0,40-6 0,0 2 0,-75 19 0,78-14 0,0-2 0,-1-2 0,-53 2 0,-68-9 0,311 3 0,169-5 0,-237-7 0,-43 5 0,51-2 0,-53 6 0,-1-1 0,45-10 0,10 7 0,-157 4 0,-157 3 0,72 19 0,82-13 0,16-1 0,-59 0 0,54-10 0,-41 1 0,89 2 0,1 1 0,0 0 0,-1 0 0,1 1 0,0 1 0,0 0 0,-15 6 0,79-3 0,-17-8 0,41-8 0,-42 5 0,49-1 0,-48 4 0,1-2 0,-1-2 0,52-14 0,-50 10 0,0 2 0,78-6 0,-99 14 0,0-1 0,0 0 0,0-2 0,0 0 0,-1-2 0,1 0 0,-1 0 0,18-9 0,-91 8 0,-862 8 0,901-1 0,1 0 0,0 2 0,-1 0 0,-22 8 0,116-9 0,7-12 0,-46 4 0,52 0 0,-60 4 0,43-7 0,-44 5 0,46-2 0,369 7 0,-503-2 0,4 0 0,0 2 0,-80 12 0,-76 15 0,40-10 0,99-13 0,-73-5 0,125 0 0,78 0-1365,-39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7" y="10226675"/>
            <a:ext cx="37306250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EDBB11-81A3-4CFA-BA97-1ABE9A8F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167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940B6B-3169-44D4-847B-7863905C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290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42"/>
            <a:ext cx="37307838" cy="6537325"/>
          </a:xfr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03A4FA6-7C07-49C1-973B-224AB06B9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173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7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2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302B25C-7078-4EDD-9EEA-F171F39DF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333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8"/>
            <a:ext cx="1939290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8"/>
            <a:ext cx="19400838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8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F454DA-B8E5-407C-A8B0-B2982CBF7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8905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65CC813-0CE0-4F7E-9B7F-FCCCD6CE8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3568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D3508A-868C-432E-A93E-3C5AF7B204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7732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EB5CAF5-4FB5-4E33-861E-BCE1A1103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691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7"/>
            <a:ext cx="26335038" cy="2720975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38"/>
            <a:ext cx="26335038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2"/>
            <a:ext cx="26335038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1738493-E10F-4F1A-B075-F4B94CA41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747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5ECC0F7-0140-4FFA-BB4D-270D63D3C3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77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1" y="1317625"/>
            <a:ext cx="9875837" cy="28089225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2" cy="28089225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C1B9D64-3336-481D-94A5-F579BB4A8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4209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193927" y="1317625"/>
            <a:ext cx="39503350" cy="548640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93927" y="7680326"/>
            <a:ext cx="19675475" cy="10787063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2021802" y="7680326"/>
            <a:ext cx="19675475" cy="10787063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193927" y="18619788"/>
            <a:ext cx="19675475" cy="10787062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021802" y="18619788"/>
            <a:ext cx="19675475" cy="10787062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D98BD33-354E-4B11-91E6-7090546888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980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5" y="7680325"/>
            <a:ext cx="39503350" cy="2172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5" y="29978350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5" y="29978350"/>
            <a:ext cx="139001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5" y="29978350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42DBB13-E718-4C9A-AC99-89A36AFA8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 dirty="0">
                <a:solidFill>
                  <a:srgbClr val="808080"/>
                </a:solidFill>
              </a:rPr>
              <a:t>Template ID: </a:t>
            </a:r>
            <a:r>
              <a:rPr sz="4560" dirty="0" err="1">
                <a:solidFill>
                  <a:srgbClr val="808080"/>
                </a:solidFill>
              </a:rPr>
              <a:t>perceptualpewter</a:t>
            </a:r>
            <a:r>
              <a:rPr sz="4560" dirty="0">
                <a:solidFill>
                  <a:srgbClr val="808080"/>
                </a:solidFill>
              </a:rPr>
              <a:t>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/>
      </a:defPPr>
      <a:lvl1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2pPr>
      <a:lvl3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3pPr>
      <a:lvl4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4pPr>
      <a:lvl5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5pPr>
      <a:lvl6pPr marL="4572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6pPr>
      <a:lvl7pPr marL="9144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7pPr>
      <a:lvl8pPr marL="13716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8pPr>
      <a:lvl9pPr marL="18288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409700" indent="-14097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13200">
          <a:solidFill>
            <a:schemeClr val="tx1"/>
          </a:solidFill>
          <a:latin typeface="+mn-lt"/>
          <a:ea typeface="+mn-ea"/>
          <a:cs typeface="+mn-cs"/>
        </a:defRPr>
      </a:lvl1pPr>
      <a:lvl2pPr marL="3057525" indent="-1176338" algn="l" defTabSz="3762375" rtl="0" eaLnBrk="0" fontAlgn="base" hangingPunct="0">
        <a:spcBef>
          <a:spcPct val="20000"/>
        </a:spcBef>
        <a:spcAft>
          <a:spcPct val="0"/>
        </a:spcAft>
        <a:buChar char="–"/>
        <a:defRPr sz="11500">
          <a:solidFill>
            <a:schemeClr val="tx1"/>
          </a:solidFill>
          <a:latin typeface="+mn-lt"/>
        </a:defRPr>
      </a:lvl2pPr>
      <a:lvl3pPr marL="4702175" indent="-9398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583363" indent="-939800" algn="l" defTabSz="3762375" rtl="0" eaLnBrk="0" fontAlgn="base" hangingPunct="0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466138" indent="-941388" algn="l" defTabSz="3762375" rtl="0" eaLnBrk="0" fontAlgn="base" hangingPunct="0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89233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6pPr>
      <a:lvl7pPr marL="93805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7pPr>
      <a:lvl8pPr marL="98377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8pPr>
      <a:lvl9pPr marL="102949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customXml" Target="../ink/ink1.xml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package" Target="../embeddings/Microsoft_Excel_Worksheet.xlsx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85800" y="533399"/>
            <a:ext cx="42519600" cy="5994347"/>
          </a:xfrm>
          <a:prstGeom prst="roundRect">
            <a:avLst>
              <a:gd name="adj" fmla="val 6990"/>
            </a:avLst>
          </a:prstGeom>
          <a:solidFill>
            <a:srgbClr val="1D3557"/>
          </a:solidFill>
          <a:ln>
            <a:solidFill>
              <a:schemeClr val="tx1"/>
            </a:solidFill>
            <a:miter lim="800000"/>
          </a:ln>
        </p:spPr>
        <p:txBody>
          <a:bodyPr/>
          <a:lstStyle>
            <a:defPPr>
              <a:defRPr kern="1200"/>
            </a:defPPr>
          </a:lstStyle>
          <a:p>
            <a:pPr eaLnBrk="1" hangingPunct="1"/>
            <a:endParaRPr lang="en-US" sz="4000" i="1" dirty="0">
              <a:noFill/>
            </a:endParaRPr>
          </a:p>
        </p:txBody>
      </p:sp>
      <p:sp>
        <p:nvSpPr>
          <p:cNvPr id="2155" name="Rectangle 167"/>
          <p:cNvSpPr>
            <a:spLocks noChangeArrowheads="1"/>
          </p:cNvSpPr>
          <p:nvPr/>
        </p:nvSpPr>
        <p:spPr bwMode="auto">
          <a:xfrm>
            <a:off x="685800" y="7310735"/>
            <a:ext cx="10058400" cy="914400"/>
          </a:xfrm>
          <a:prstGeom prst="roundRect">
            <a:avLst/>
          </a:prstGeom>
          <a:solidFill>
            <a:srgbClr val="E63946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/>
            <a:r>
              <a:rPr lang="en-US" sz="3600" dirty="0">
                <a:solidFill>
                  <a:schemeClr val="bg1"/>
                </a:solidFill>
                <a:latin typeface="Nunito" panose="00000500000000000000" pitchFamily="2" charset="0"/>
              </a:rPr>
              <a:t>Abstract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2C25681-95AF-45D0-852E-DC3E00E2FDFE}"/>
              </a:ext>
            </a:extLst>
          </p:cNvPr>
          <p:cNvSpPr txBox="1"/>
          <p:nvPr/>
        </p:nvSpPr>
        <p:spPr>
          <a:xfrm>
            <a:off x="3657600" y="1278651"/>
            <a:ext cx="36576000" cy="29374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en-US" sz="8500" dirty="0">
                <a:solidFill>
                  <a:srgbClr val="F1FAEE"/>
                </a:solidFill>
                <a:latin typeface="Nunito" panose="00000500000000000000" pitchFamily="2" charset="0"/>
              </a:rPr>
              <a:t>Multimodal AI for Body Fat Estimation: Computer Vision and Anthropometry with DEXA Benchmarks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F872E11-D0DF-4446-BE76-A398B88E9B44}"/>
              </a:ext>
            </a:extLst>
          </p:cNvPr>
          <p:cNvSpPr txBox="1"/>
          <p:nvPr/>
        </p:nvSpPr>
        <p:spPr>
          <a:xfrm>
            <a:off x="3657600" y="4361281"/>
            <a:ext cx="365760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5600" b="0" dirty="0">
                <a:solidFill>
                  <a:srgbClr val="EFF9F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Rayan ALDajani – Rayandajani21@gmail.com</a:t>
            </a:r>
          </a:p>
          <a:p>
            <a:pPr algn="ctr">
              <a:defRPr/>
            </a:pPr>
            <a:r>
              <a:rPr lang="en-US" sz="5600" b="0" dirty="0">
                <a:solidFill>
                  <a:srgbClr val="EFF9F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Lassonde School of Engineering - York University</a:t>
            </a:r>
          </a:p>
          <a:p>
            <a:pPr algn="ctr">
              <a:defRPr/>
            </a:pPr>
            <a:endParaRPr lang="en-US" sz="5600" b="0" dirty="0">
              <a:solidFill>
                <a:srgbClr val="EFF9F9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67">
            <a:extLst>
              <a:ext uri="{FF2B5EF4-FFF2-40B4-BE49-F238E27FC236}">
                <a16:creationId xmlns:a16="http://schemas.microsoft.com/office/drawing/2014/main" id="{CC5F2601-3472-4441-8610-673ACB878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7252" y="25350233"/>
            <a:ext cx="10058400" cy="914400"/>
          </a:xfrm>
          <a:prstGeom prst="roundRect">
            <a:avLst/>
          </a:prstGeom>
          <a:solidFill>
            <a:srgbClr val="E63946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/>
            <a:r>
              <a:rPr lang="en-US" sz="3600" dirty="0">
                <a:solidFill>
                  <a:schemeClr val="bg1"/>
                </a:solidFill>
                <a:latin typeface="Nunito" panose="00000500000000000000" pitchFamily="2" charset="0"/>
              </a:rPr>
              <a:t>Dataset</a:t>
            </a:r>
          </a:p>
        </p:txBody>
      </p:sp>
      <p:sp>
        <p:nvSpPr>
          <p:cNvPr id="20" name="Rectangle 167">
            <a:extLst>
              <a:ext uri="{FF2B5EF4-FFF2-40B4-BE49-F238E27FC236}">
                <a16:creationId xmlns:a16="http://schemas.microsoft.com/office/drawing/2014/main" id="{F8160BCC-36FC-4419-BD0D-F8E0CD69D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3014" y="7310735"/>
            <a:ext cx="10058400" cy="914400"/>
          </a:xfrm>
          <a:prstGeom prst="roundRect">
            <a:avLst/>
          </a:prstGeom>
          <a:solidFill>
            <a:srgbClr val="E63946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/>
            <a:r>
              <a:rPr lang="en-US" sz="3600" dirty="0">
                <a:solidFill>
                  <a:schemeClr val="bg1"/>
                </a:solidFill>
                <a:latin typeface="Nunito" panose="00000500000000000000" pitchFamily="2" charset="0"/>
              </a:rPr>
              <a:t>Methodology</a:t>
            </a:r>
          </a:p>
        </p:txBody>
      </p:sp>
      <p:sp>
        <p:nvSpPr>
          <p:cNvPr id="22" name="Rectangle 167">
            <a:extLst>
              <a:ext uri="{FF2B5EF4-FFF2-40B4-BE49-F238E27FC236}">
                <a16:creationId xmlns:a16="http://schemas.microsoft.com/office/drawing/2014/main" id="{911E8223-4617-4E14-85CC-64FBEF860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0" y="7305311"/>
            <a:ext cx="10058400" cy="914400"/>
          </a:xfrm>
          <a:prstGeom prst="roundRect">
            <a:avLst/>
          </a:prstGeom>
          <a:solidFill>
            <a:srgbClr val="E63946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/>
            <a:r>
              <a:rPr lang="en-US" sz="3600" dirty="0">
                <a:solidFill>
                  <a:schemeClr val="bg1"/>
                </a:solidFill>
                <a:latin typeface="Nunito" panose="00000500000000000000" pitchFamily="2" charset="0"/>
              </a:rPr>
              <a:t>Conclusion</a:t>
            </a:r>
          </a:p>
        </p:txBody>
      </p:sp>
      <p:sp>
        <p:nvSpPr>
          <p:cNvPr id="27" name="Rectangle 167">
            <a:extLst>
              <a:ext uri="{FF2B5EF4-FFF2-40B4-BE49-F238E27FC236}">
                <a16:creationId xmlns:a16="http://schemas.microsoft.com/office/drawing/2014/main" id="{9E369C6D-A264-4B89-931F-14FD6655F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766" y="13330574"/>
            <a:ext cx="10058400" cy="914400"/>
          </a:xfrm>
          <a:prstGeom prst="roundRect">
            <a:avLst/>
          </a:prstGeom>
          <a:solidFill>
            <a:srgbClr val="E63946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/>
            <a:r>
              <a:rPr lang="en-US" sz="3600" dirty="0">
                <a:solidFill>
                  <a:schemeClr val="bg1"/>
                </a:solidFill>
                <a:latin typeface="Nunito" panose="00000500000000000000" pitchFamily="2" charset="0"/>
              </a:rPr>
              <a:t>Introduction</a:t>
            </a:r>
          </a:p>
        </p:txBody>
      </p:sp>
      <p:sp>
        <p:nvSpPr>
          <p:cNvPr id="21" name="Rectangle 167">
            <a:extLst>
              <a:ext uri="{FF2B5EF4-FFF2-40B4-BE49-F238E27FC236}">
                <a16:creationId xmlns:a16="http://schemas.microsoft.com/office/drawing/2014/main" id="{101B52F1-D8CA-4741-B86D-98C03F6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9786" y="7305311"/>
            <a:ext cx="10058400" cy="914400"/>
          </a:xfrm>
          <a:prstGeom prst="roundRect">
            <a:avLst/>
          </a:prstGeom>
          <a:solidFill>
            <a:srgbClr val="E63946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/>
            <a:r>
              <a:rPr lang="en-US" sz="3600" dirty="0">
                <a:solidFill>
                  <a:schemeClr val="bg1"/>
                </a:solidFill>
                <a:latin typeface="Nunito" panose="00000500000000000000" pitchFamily="2" charset="0"/>
              </a:rPr>
              <a:t>Results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0D303C-BC2E-4D27-8DCB-AFFC83235B99}"/>
              </a:ext>
            </a:extLst>
          </p:cNvPr>
          <p:cNvSpPr txBox="1"/>
          <p:nvPr/>
        </p:nvSpPr>
        <p:spPr>
          <a:xfrm>
            <a:off x="765115" y="8577252"/>
            <a:ext cx="10058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AI-based models were tested as low-cost alternatives to DEXA scans for body fat estimation. Using 535 samples (253 anthropometric, 282 image), two models were trained: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CNN (ResNet) 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on body images → R² = 0.81, RMSE = 4.44%, MAE = 3.34%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Regression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on body measurements → R² = 0.57, RMSE = 4.47%, MAE = 3.52%</a:t>
            </a:r>
          </a:p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CNN significantly outperformed traditional methods (BMI, Navy), showing potential for accessible health tracking.</a:t>
            </a:r>
            <a:endParaRPr lang="en-US" sz="2800" dirty="0">
              <a:solidFill>
                <a:srgbClr val="222222"/>
              </a:solidFill>
              <a:latin typeface="Helvetica" panose="020B0604020202020204" pitchFamily="34" charset="0"/>
              <a:ea typeface="Open Sans" panose="020B0606030504020204" pitchFamily="34" charset="0"/>
              <a:cs typeface="Helvetica" panose="020B0604020202020204" pitchFamily="34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289F4C29-97DA-4889-85D4-4718B5EF9EE5}"/>
              </a:ext>
            </a:extLst>
          </p:cNvPr>
          <p:cNvSpPr txBox="1"/>
          <p:nvPr/>
        </p:nvSpPr>
        <p:spPr>
          <a:xfrm>
            <a:off x="11473014" y="8361515"/>
            <a:ext cx="100584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Regression using anthropometric data: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Inputs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body measurements (weight, chest, abdomen, hip, thigh)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Loss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Mean Squared Error (MSE)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Metrics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MAE, RMSE, R²</a:t>
            </a:r>
          </a:p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CNN using image data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Architecture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Convolutional Neural Network based on ResNet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Inputs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frontal body images</a:t>
            </a:r>
          </a:p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Goal: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Extract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 visual features describing body composition</a:t>
            </a:r>
          </a:p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Evaluation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Both models were evaluated on holdout sets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Both models were not only compared to each other, but also against baseline methods (</a:t>
            </a: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BMI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 &amp; </a:t>
            </a: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Navy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 </a:t>
            </a: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equation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7F5A37C-2B6C-4404-91FF-0640D04BD011}"/>
              </a:ext>
            </a:extLst>
          </p:cNvPr>
          <p:cNvSpPr txBox="1"/>
          <p:nvPr/>
        </p:nvSpPr>
        <p:spPr>
          <a:xfrm>
            <a:off x="33147000" y="8485376"/>
            <a:ext cx="10058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Feasibility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AI approaches have a good prospect for inexpensive body fat estimation.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Performance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The CNN model (R² = 0.81) outperformed the regression model (R² = 0.57) and baseline methods.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Weaknesses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Small sample size, only anthropometric records from males, and reliance on self-reported BF% values.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Substance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This represents a meaningful step towards the development of scalable, AI-supported health tools to help create equity in tracking of body composition. However, validating against large multimodal datasets will be an important next step.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52719D96-727F-42F6-8B2A-AA919B98673D}"/>
              </a:ext>
            </a:extLst>
          </p:cNvPr>
          <p:cNvSpPr txBox="1"/>
          <p:nvPr/>
        </p:nvSpPr>
        <p:spPr>
          <a:xfrm>
            <a:off x="22746822" y="8289641"/>
            <a:ext cx="100584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Anthropometric Regression Model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Accuracy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R² = 0.57, RMSE = 4.47%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Strongest predictor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abdominal circumference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Moderate performance, limited at extreme BF% ranges</a:t>
            </a:r>
          </a:p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Image-Based CNN Model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Accuracy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R² = 0.81, RMSE = 4.44%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Recognized visual patterns 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in addition to the measurements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Scatter plots suggested </a:t>
            </a: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good mid-range 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predictions, but variability at extremes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Loss curves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: stable convergence, with mild overfitting (small dataset)</a:t>
            </a:r>
          </a:p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Comparison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Both AI models </a:t>
            </a: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outperformed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 heuristic baselines (BMI, Navy formula)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CNN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 provided the best estimates overall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734355BE-9713-AC8E-C922-FFCD4E53A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6272" y="21807548"/>
            <a:ext cx="9639128" cy="1200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US" sz="2400" dirty="0">
                <a:solidFill>
                  <a:srgbClr val="457B9D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Figure 5 shows a positive correlation between predicted and actual body fat values, though with greater variability across samples.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E01EDCB1-BEE6-C59C-016B-A23054FA4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16642" y="23064181"/>
            <a:ext cx="10784582" cy="83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US" sz="2400" dirty="0">
                <a:solidFill>
                  <a:srgbClr val="457B9D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Figure 3 shows a strong linear relationship between predicted and true body fat values, indicating high model accuracy and consistency.</a:t>
            </a:r>
          </a:p>
        </p:txBody>
      </p:sp>
      <p:sp>
        <p:nvSpPr>
          <p:cNvPr id="23" name="Rectangle 167">
            <a:extLst>
              <a:ext uri="{FF2B5EF4-FFF2-40B4-BE49-F238E27FC236}">
                <a16:creationId xmlns:a16="http://schemas.microsoft.com/office/drawing/2014/main" id="{3F14D5DF-98B2-0575-D009-0818E926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66272" y="23265139"/>
            <a:ext cx="10058400" cy="914400"/>
          </a:xfrm>
          <a:prstGeom prst="roundRect">
            <a:avLst/>
          </a:prstGeom>
          <a:solidFill>
            <a:srgbClr val="E63946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/>
            <a:r>
              <a:rPr lang="en-US" sz="3600" dirty="0">
                <a:solidFill>
                  <a:schemeClr val="bg1"/>
                </a:solidFill>
                <a:latin typeface="Nunito" panose="00000500000000000000" pitchFamily="2" charset="0"/>
              </a:rPr>
              <a:t>Future Work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A2EC86A6-6F39-43B9-C2EB-83F394847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6272" y="24397887"/>
            <a:ext cx="10058400" cy="6986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l"/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This research indicated that AI-based methods for estimating body fat can be developed, however, the following avenues remain for future research: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Paired Multimodal Data 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- Data sets that include both image data and anthropometric measurements taken from the same subjects so true multimodal fusion models can be created.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Larger and More Diverse Sample Cohort 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- More data will be available if samples include females, variability in ethnicities, and diverse body types, improving the generalizability of the methods in this thesis.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Academic Validation </a:t>
            </a:r>
            <a:r>
              <a:rPr lang="en-US" sz="2800" dirty="0">
                <a:solidFill>
                  <a:srgbClr val="222222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- Future work should include comparison of our estimates against gold standard measures (DEXA, MRI) through controlled study designs to establish the academic validity.</a:t>
            </a: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83A8CE8F-5991-51EB-8ACB-68906F734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81" y="14609105"/>
            <a:ext cx="9899770" cy="483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l"/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Importance of Body </a:t>
            </a:r>
            <a:r>
              <a:rPr lang="en-US" sz="2800">
                <a:latin typeface="Helvetica" panose="020B0604020202020204" pitchFamily="34" charset="0"/>
                <a:cs typeface="Helvetica" panose="020B0604020202020204" pitchFamily="34" charset="0"/>
              </a:rPr>
              <a:t>Fat %1 </a:t>
            </a:r>
            <a:endParaRPr lang="en-US" sz="2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Key indicator </a:t>
            </a: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of overall health, fitness, and disease risk.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Problem</a:t>
            </a: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: DEXA scans are accurate but expensive and inaccessible, while BMI and Navy methods lack precision.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Opportunity</a:t>
            </a: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: Advances in AI and computer vision can bridge the gap between accuracy and accessibility.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E639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Goal</a:t>
            </a: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: Evaluate whether AI models can estimate BF% near DEXA-level accuracy while remaining affordable and scalable to the public.</a:t>
            </a:r>
            <a:endParaRPr lang="en-US" sz="2800" dirty="0">
              <a:solidFill>
                <a:srgbClr val="222222"/>
              </a:solidFill>
              <a:latin typeface="Helvetica" panose="020B0604020202020204" pitchFamily="34" charset="0"/>
              <a:ea typeface="Open Sans" panose="020B0606030504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8900E57C-314E-36A9-939C-EECEDB0F4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86" y="28514082"/>
            <a:ext cx="10784582" cy="83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US" sz="2400" dirty="0">
                <a:solidFill>
                  <a:srgbClr val="457B9D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Figure 1 shows the correlation between Bodyfat and different body measurements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4A654715-66F2-787F-88CF-0795FCF5E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6126" y="23876481"/>
            <a:ext cx="10784582" cy="1200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US" sz="2400" dirty="0">
                <a:solidFill>
                  <a:srgbClr val="457B9D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Figure 2 shows the overall body fat estimation pipeline, outlining both regression and CNN models from data input to evaluation and prediction.</a:t>
            </a:r>
          </a:p>
        </p:txBody>
      </p:sp>
      <p:sp>
        <p:nvSpPr>
          <p:cNvPr id="9" name="TextBox 19">
            <a:extLst>
              <a:ext uri="{FF2B5EF4-FFF2-40B4-BE49-F238E27FC236}">
                <a16:creationId xmlns:a16="http://schemas.microsoft.com/office/drawing/2014/main" id="{C1FEB1C2-249E-3737-CD27-BDFDA3A97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6038" y="30107759"/>
            <a:ext cx="10784582" cy="1200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US" sz="2400" dirty="0">
                <a:solidFill>
                  <a:srgbClr val="457B9D"/>
                </a:solidFill>
                <a:latin typeface="Helvetica" panose="020B0604020202020204" pitchFamily="34" charset="0"/>
                <a:ea typeface="Open Sans" panose="020B0606030504020204" pitchFamily="34" charset="0"/>
                <a:cs typeface="Helvetica" panose="020B0604020202020204" pitchFamily="34" charset="0"/>
              </a:rPr>
              <a:t>Figure 4 shows the different results after training both models, highlighting the superiority of the Image-Based Model over Anthropometric Model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45E0751-CBE6-C326-65F8-D3271C0DB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05306"/>
            <a:ext cx="11203154" cy="85234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97C65CE-A8F4-8480-D40B-4E98866271DD}"/>
                  </a:ext>
                </a:extLst>
              </p14:cNvPr>
              <p14:cNvContentPartPr/>
              <p14:nvPr/>
            </p14:nvContentPartPr>
            <p14:xfrm>
              <a:off x="11804220" y="22912920"/>
              <a:ext cx="469800" cy="122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97C65CE-A8F4-8480-D40B-4E98866271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95580" y="22903920"/>
                <a:ext cx="487440" cy="1404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CEAD91D6-CE9C-798B-DD85-B5CA5383C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2790" y="14923318"/>
            <a:ext cx="10405862" cy="8702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E8B4256A-42C5-BBA1-153D-41F67CFCB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281193"/>
              </p:ext>
            </p:extLst>
          </p:nvPr>
        </p:nvGraphicFramePr>
        <p:xfrm>
          <a:off x="10849713" y="26403640"/>
          <a:ext cx="12082463" cy="301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886296" imgH="1171677" progId="Excel.Sheet.12">
                  <p:embed/>
                </p:oleObj>
              </mc:Choice>
              <mc:Fallback>
                <p:oleObj name="Worksheet" r:id="rId6" imgW="4886296" imgH="117167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849713" y="26403640"/>
                        <a:ext cx="12082463" cy="3011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60D53CDC-EC85-4B85-85E0-848D4643C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78734" y="24089087"/>
            <a:ext cx="10703440" cy="607618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9C060C6-229C-078E-FCF0-3810089038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51838" y="15249130"/>
            <a:ext cx="7915275" cy="79152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381AE55-95DF-7811-609C-B4456F17945A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600308" y="13820314"/>
            <a:ext cx="7915275" cy="79152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EEC48C5-8752-2165-9A4C-BB9E2347B9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286" y="30770966"/>
            <a:ext cx="5247920" cy="161403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16B88DA-34D8-37C2-E894-B2454B0F61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5595" y="30554665"/>
            <a:ext cx="5247920" cy="1893624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756A148-BE6D-D43A-5823-61D4B37806BA}"/>
              </a:ext>
            </a:extLst>
          </p:cNvPr>
          <p:cNvCxnSpPr/>
          <p:nvPr/>
        </p:nvCxnSpPr>
        <p:spPr bwMode="auto">
          <a:xfrm>
            <a:off x="5639677" y="30707066"/>
            <a:ext cx="0" cy="1677935"/>
          </a:xfrm>
          <a:prstGeom prst="line">
            <a:avLst/>
          </a:prstGeom>
          <a:gradFill rotWithShape="1">
            <a:gsLst>
              <a:gs pos="0">
                <a:srgbClr val="800000"/>
              </a:gs>
              <a:gs pos="50000">
                <a:srgbClr val="800000">
                  <a:gamma/>
                  <a:tint val="73725"/>
                  <a:invGamma/>
                </a:srgbClr>
              </a:gs>
              <a:gs pos="100000">
                <a:srgbClr val="800000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Rectangle 167">
            <a:extLst>
              <a:ext uri="{FF2B5EF4-FFF2-40B4-BE49-F238E27FC236}">
                <a16:creationId xmlns:a16="http://schemas.microsoft.com/office/drawing/2014/main" id="{E581BC45-6F04-7604-9FFA-9B65162AB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7252" y="29810951"/>
            <a:ext cx="10044162" cy="708647"/>
          </a:xfrm>
          <a:prstGeom prst="roundRect">
            <a:avLst/>
          </a:prstGeom>
          <a:solidFill>
            <a:srgbClr val="E63946"/>
          </a:solidFill>
          <a:ln w="9525">
            <a:noFill/>
            <a:miter lim="800000"/>
          </a:ln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/>
            <a:r>
              <a:rPr lang="en-US" sz="3600" dirty="0">
                <a:solidFill>
                  <a:schemeClr val="bg1"/>
                </a:solidFill>
                <a:latin typeface="Nunito" panose="00000500000000000000" pitchFamily="2" charset="0"/>
              </a:rPr>
              <a:t>References</a:t>
            </a:r>
          </a:p>
        </p:txBody>
      </p:sp>
      <p:sp>
        <p:nvSpPr>
          <p:cNvPr id="1024" name="TextBox 19">
            <a:extLst>
              <a:ext uri="{FF2B5EF4-FFF2-40B4-BE49-F238E27FC236}">
                <a16:creationId xmlns:a16="http://schemas.microsoft.com/office/drawing/2014/main" id="{DFE699EF-1E41-3FDB-60E8-6109CDBC1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7252" y="30554665"/>
            <a:ext cx="10044162" cy="230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E63946"/>
                </a:solidFill>
              </a:rPr>
              <a:t>S. B. </a:t>
            </a:r>
            <a:r>
              <a:rPr lang="en-US" sz="2400" dirty="0" err="1">
                <a:solidFill>
                  <a:srgbClr val="E63946"/>
                </a:solidFill>
              </a:rPr>
              <a:t>Heymsfield</a:t>
            </a:r>
            <a:r>
              <a:rPr lang="en-US" sz="2400" dirty="0">
                <a:solidFill>
                  <a:srgbClr val="E63946"/>
                </a:solidFill>
              </a:rPr>
              <a:t> et al.</a:t>
            </a:r>
            <a:r>
              <a:rPr lang="en-US" sz="2400" dirty="0">
                <a:solidFill>
                  <a:srgbClr val="222222"/>
                </a:solidFill>
              </a:rPr>
              <a:t>, </a:t>
            </a:r>
            <a:r>
              <a:rPr lang="en-US" sz="2400" i="1" dirty="0">
                <a:solidFill>
                  <a:srgbClr val="222222"/>
                </a:solidFill>
              </a:rPr>
              <a:t>Human Body Composition: Advances in Models and Methods</a:t>
            </a:r>
            <a:r>
              <a:rPr lang="en-US" sz="2400" dirty="0">
                <a:solidFill>
                  <a:srgbClr val="222222"/>
                </a:solidFill>
              </a:rPr>
              <a:t>, Annu. Rev. </a:t>
            </a:r>
            <a:r>
              <a:rPr lang="en-US" sz="2400" dirty="0" err="1">
                <a:solidFill>
                  <a:srgbClr val="222222"/>
                </a:solidFill>
              </a:rPr>
              <a:t>Nutr</a:t>
            </a:r>
            <a:r>
              <a:rPr lang="en-US" sz="2400" dirty="0">
                <a:solidFill>
                  <a:srgbClr val="222222"/>
                </a:solidFill>
              </a:rPr>
              <a:t>., vol. 17, pp. 527–558, 1997.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E63946"/>
                </a:solidFill>
              </a:rPr>
              <a:t>J. A. Hodgdon and M. B. Beckett</a:t>
            </a:r>
            <a:r>
              <a:rPr lang="en-US" sz="2400" dirty="0">
                <a:solidFill>
                  <a:srgbClr val="222222"/>
                </a:solidFill>
              </a:rPr>
              <a:t>, </a:t>
            </a:r>
            <a:r>
              <a:rPr lang="en-US" sz="2400" i="1" dirty="0">
                <a:solidFill>
                  <a:srgbClr val="222222"/>
                </a:solidFill>
              </a:rPr>
              <a:t>Prediction of Percent Body Fat for U.S. Navy Men from Body Circumferences and Height</a:t>
            </a:r>
            <a:r>
              <a:rPr lang="en-US" sz="2400" dirty="0">
                <a:solidFill>
                  <a:srgbClr val="222222"/>
                </a:solidFill>
              </a:rPr>
              <a:t>, Naval Health Research Center Report No. 84-11, 1984.</a:t>
            </a:r>
            <a:endParaRPr lang="en-US" sz="2400" dirty="0">
              <a:solidFill>
                <a:srgbClr val="222222"/>
              </a:solidFill>
              <a:latin typeface="Helvetica" panose="020B0604020202020204" pitchFamily="34" charset="0"/>
              <a:ea typeface="Open Sans" panose="020B0606030504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A qr code on a red background&#10;&#10;AI-generated content may be incorrect.">
            <a:extLst>
              <a:ext uri="{FF2B5EF4-FFF2-40B4-BE49-F238E27FC236}">
                <a16:creationId xmlns:a16="http://schemas.microsoft.com/office/drawing/2014/main" id="{38D6CAEF-B5C3-C225-A69A-43CE28B3D8F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856164"/>
            <a:ext cx="2819400" cy="3288842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erceptualpewter|08-2022"/>
</p:tagLst>
</file>

<file path=ppt/theme/theme1.xml><?xml version="1.0" encoding="utf-8"?>
<a:theme xmlns:a="http://schemas.openxmlformats.org/drawingml/2006/main" name="Default Desig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4810</TotalTime>
  <Words>767</Words>
  <Application>Microsoft Office PowerPoint</Application>
  <PresentationFormat>Custom</PresentationFormat>
  <Paragraphs>59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Nunito</vt:lpstr>
      <vt:lpstr>Open Sans</vt:lpstr>
      <vt:lpstr>Helvetica</vt:lpstr>
      <vt:lpstr>Arial</vt:lpstr>
      <vt:lpstr>Default Design</vt:lpstr>
      <vt:lpstr>Worksheet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Rayan Al Dajani</cp:lastModifiedBy>
  <cp:revision>182</cp:revision>
  <dcterms:modified xsi:type="dcterms:W3CDTF">2025-11-15T00:22:27Z</dcterms:modified>
  <cp:category>science research poster</cp:category>
</cp:coreProperties>
</file>